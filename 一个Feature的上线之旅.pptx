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61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76422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带来的变化：</a:t>
            </a:r>
            <a:r>
              <a:rPr lang="en-US" altLang="zh-CN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Feature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上线时间从季度</a:t>
            </a:r>
            <a:r>
              <a:rPr lang="en-US" altLang="zh-CN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月度坍缩到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</a:t>
            </a:r>
            <a:endParaRPr lang="zh-CN" altLang="en-US" sz="22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66560" y="7315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为什么从「季度 / 月」坍缩到「天」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1161288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13232"/>
            <a:ext cx="73152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498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驱动力 · AI / Agent 能力跃迁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42416"/>
            <a:ext cx="270891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42416"/>
            <a:ext cx="256260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</a:t>
            </a: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20-50 Agent 并行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03270" y="1042416"/>
            <a:ext cx="270891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6422" y="1042416"/>
            <a:ext cx="256260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</a:t>
            </a: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可执行 / 可校验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9340" y="1042416"/>
            <a:ext cx="270891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2492" y="1042416"/>
            <a:ext cx="256260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</a:t>
            </a: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coding 被自动化接管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5410" y="1042416"/>
            <a:ext cx="270891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8562" y="1042416"/>
            <a:ext cx="256260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</a:t>
            </a: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实时风险 / 价值评估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20215" y="14630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6285" y="14630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12355" y="14630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58425" y="14630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755648"/>
            <a:ext cx="3761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002536"/>
            <a:ext cx="376123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755648"/>
            <a:ext cx="37612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  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093976"/>
            <a:ext cx="3761232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122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2295144"/>
            <a:ext cx="35417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 SDLC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PRD→设计→编码→测试→发布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 = 3 个月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63496" y="2752344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871216"/>
            <a:ext cx="3761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71216"/>
            <a:ext cx="376123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08960"/>
            <a:ext cx="3761232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871216"/>
            <a:ext cx="3614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 · 压力 + 出路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145536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并行让人工评审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「量上不可行」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7776" y="35478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3730752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出路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可执行让校验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「机器化、可持续」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187952"/>
            <a:ext cx="3212592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063496" y="4151376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" y="4297680"/>
            <a:ext cx="361492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评审-修复循环 → 持续校验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闭环回流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63496" y="4745736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864608"/>
            <a:ext cx="3761232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864608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828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终态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2336" y="5084064"/>
            <a:ext cx="3578352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并行收敛 + 持续校验 + 闭环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T+0 → T+∞ · 36h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00144" y="1755648"/>
            <a:ext cx="3761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0144" y="2002536"/>
            <a:ext cx="376123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0144" y="1755648"/>
            <a:ext cx="37612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  织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200144" y="2093976"/>
            <a:ext cx="3761232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3296" y="21122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09872" y="2295144"/>
            <a:ext cx="35417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PM + 1 TL + 5-10 Dev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+ 2-3 QA + 1 Ops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(15 人 / 3 个月)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89320" y="2752344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00144" y="2871216"/>
            <a:ext cx="3761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00144" y="2871216"/>
            <a:ext cx="376123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0144" y="3108960"/>
            <a:ext cx="3761232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3296" y="2871216"/>
            <a:ext cx="3614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 · 压力 + 出路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291584" y="3145536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coding 被接管,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金字塔底部失去存在理由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943600" y="35478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∧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291584" y="3730752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出路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编排让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1:N → 1:N² 杠杆可达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74464" y="4187952"/>
            <a:ext cx="3212592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989320" y="4151376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73296" y="4297680"/>
            <a:ext cx="361492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金字塔 → 反金字塔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治理层崛起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89320" y="4745736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00144" y="4864608"/>
            <a:ext cx="3761232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0144" y="4864608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09872" y="48828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终态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328160" y="5084064"/>
            <a:ext cx="3578352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1-2 高级工程师 + N Agent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(3 人 / 3 周) + 治理层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125968" y="1755648"/>
            <a:ext cx="3761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25968" y="2002536"/>
            <a:ext cx="376123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25968" y="1755648"/>
            <a:ext cx="37612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人员能力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8125968" y="2093976"/>
            <a:ext cx="3761232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99120" y="21122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35696" y="2295144"/>
            <a:ext cx="35417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实现者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 coding 是主战场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1:N(管理)杠杆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915144" y="2752344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125968" y="2871216"/>
            <a:ext cx="3761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25968" y="2871216"/>
            <a:ext cx="376123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25968" y="3108960"/>
            <a:ext cx="3761232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99120" y="2871216"/>
            <a:ext cx="3614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 · 压力 + 出路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217408" y="3145536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底层岗位消失,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实现型价值被抽空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869424" y="35478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∧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8217408" y="3730752"/>
            <a:ext cx="357835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出路  </a:t>
            </a: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撰写 / 价值判断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 编排成为新可习得能力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400288" y="4187952"/>
            <a:ext cx="3212592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9915144" y="4151376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199120" y="4297680"/>
            <a:ext cx="361492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实现者 → 判断者 + 编排者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(能力金字塔倒置)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915144" y="4745736"/>
            <a:ext cx="182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▼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125968" y="4864608"/>
            <a:ext cx="3761232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25968" y="4864608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35696" y="48828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终态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253984" y="5065776"/>
            <a:ext cx="3578352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撰写  → 收敛 ①② + 闭环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跨域抽象  → 收敛 ② + 贯穿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编排 → 实现期 T+4~24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价值/风险  → 收敛 ① + Go/NoGo + 闭环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74320" y="5779008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← 耦合传导:流程并行化逼迫组织瘦身,组织瘦身逼迫人员上移,人员上移才能撑起新流程 →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74320" y="6089904"/>
            <a:ext cx="116128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4320" y="6089904"/>
            <a:ext cx="914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612648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 · 复杂性所在的迁移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502920" y="6382512"/>
            <a:ext cx="11201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代码复杂性</a:t>
            </a:r>
            <a:r>
              <a:rPr lang="en-US" sz="10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──────►   </a:t>
            </a:r>
            <a:r>
              <a:rPr lang="en-US" sz="10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意图复杂性 + 协同复杂性</a:t>
            </a: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(Agent 接管 → 人类的新主战场)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502920" y="6592824"/>
            <a:ext cx="11201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流程的杠杆从「控制流」转向「意图流」     </a:t>
            </a: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组织的杠杆从「管理放大」转向「编排放大」     </a:t>
            </a: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人员的价值从「实现能力」转向「判断 + 编排能力」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61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610"/>
            <a:ext cx="640080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一个 Feature 的上线之旅</a:t>
            </a:r>
            <a:r>
              <a:rPr lang="zh-CN" alt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</a:t>
            </a:r>
            <a:r>
              <a:rPr lang="en-US" sz="2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终态形态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0" y="7315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从「流水线」到「网格 + 校验场 + 反馈环」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923544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流程分段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86968"/>
            <a:ext cx="1497787" cy="2743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86968"/>
            <a:ext cx="1497787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7827" y="886968"/>
            <a:ext cx="1497787" cy="274320"/>
          </a:xfrm>
          <a:prstGeom prst="rect">
            <a:avLst/>
          </a:prstGeom>
          <a:solidFill>
            <a:srgbClr val="EAEAE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7827" y="886968"/>
            <a:ext cx="1497787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5614" y="886968"/>
            <a:ext cx="2419502" cy="2743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5614" y="886968"/>
            <a:ext cx="24195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35117" y="886968"/>
            <a:ext cx="921715" cy="274320"/>
          </a:xfrm>
          <a:prstGeom prst="rect">
            <a:avLst/>
          </a:prstGeom>
          <a:solidFill>
            <a:srgbClr val="EAEAE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5117" y="886968"/>
            <a:ext cx="92171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6832" y="886968"/>
            <a:ext cx="1728216" cy="2743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88696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85048" y="886968"/>
            <a:ext cx="1382573" cy="274320"/>
          </a:xfrm>
          <a:prstGeom prst="rect">
            <a:avLst/>
          </a:prstGeom>
          <a:solidFill>
            <a:srgbClr val="EAEAE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886968"/>
            <a:ext cx="13825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发布/部署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767621" y="886968"/>
            <a:ext cx="2073859" cy="27432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7621" y="886968"/>
            <a:ext cx="207385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408176"/>
            <a:ext cx="11521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-45720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2067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17827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9854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5614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T+24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56832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9288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85048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01861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T+36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767621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75720" y="12070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T+∞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841480" y="1371600"/>
            <a:ext cx="0" cy="54864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8099" y="146304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909267" y="146304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60627" y="16642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人:意图判定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05886" y="146304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407054" y="146304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58414" y="16642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人:架构拍板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75320" y="146304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476488" y="1463040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27848" y="16642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人:风险门禁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657893" y="146304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310421" y="16642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2B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人:Go / No-Go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8328" y="1874520"/>
            <a:ext cx="1461211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328" y="1874520"/>
            <a:ext cx="1461211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1929384"/>
            <a:ext cx="1406347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意图共创 · 数据 · 合规 · 体验 · 机会矩阵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93192" y="228904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" y="225247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192" y="241096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4904" y="237439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3192" y="253288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249631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3192" y="265480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" y="261823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3192" y="277672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" y="274015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36115" y="1874520"/>
            <a:ext cx="1461211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36115" y="1874520"/>
            <a:ext cx="1461211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63547" y="1929384"/>
            <a:ext cx="1406347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 · API · 数据契约 · SLO · 仓库骨架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90979" y="228904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72691" y="225247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90979" y="241096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72691" y="237439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90979" y="253288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72691" y="249631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90979" y="265480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72691" y="261823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90979" y="2776728"/>
            <a:ext cx="1351483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72691" y="274015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33902" y="1874520"/>
            <a:ext cx="3304642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33902" y="1874520"/>
            <a:ext cx="3304642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61334" y="1929384"/>
            <a:ext cx="324977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20-50 Agent 并行实现 (× N)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388766" y="2289048"/>
            <a:ext cx="3194914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70478" y="225247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88766" y="2410968"/>
            <a:ext cx="3194914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70478" y="237439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88766" y="2532888"/>
            <a:ext cx="3194914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0478" y="249631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388766" y="2654808"/>
            <a:ext cx="3194914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70478" y="261823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8766" y="2776728"/>
            <a:ext cx="3194914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70478" y="274015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75120" y="1874520"/>
            <a:ext cx="1691640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75120" y="1874520"/>
            <a:ext cx="169164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02552" y="1929384"/>
            <a:ext cx="163677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自愈流水线 + 风险门禁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729984" y="2410968"/>
            <a:ext cx="1581912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11696" y="237439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29984" y="2654808"/>
            <a:ext cx="1581912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11696" y="261823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03336" y="1874520"/>
            <a:ext cx="1345997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03336" y="1874520"/>
            <a:ext cx="1345997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30768" y="1929384"/>
            <a:ext cx="1291133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金丝雀发布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458200" y="2410968"/>
            <a:ext cx="1236269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39912" y="237439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58200" y="2654808"/>
            <a:ext cx="1236269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39912" y="261823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85909" y="1874520"/>
            <a:ext cx="2037283" cy="1097280"/>
          </a:xfrm>
          <a:prstGeom prst="rect">
            <a:avLst/>
          </a:prstGeom>
          <a:solidFill>
            <a:srgbClr val="FAFAF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785909" y="1874520"/>
            <a:ext cx="2037283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813341" y="1929384"/>
            <a:ext cx="1982419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 / 归因 / A/B 实验 / 闭环输入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9840773" y="2350008"/>
            <a:ext cx="1927555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822485" y="231343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840773" y="2532888"/>
            <a:ext cx="1927555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822485" y="249631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40773" y="2715768"/>
            <a:ext cx="1927555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822485" y="2679192"/>
            <a:ext cx="73152" cy="73152"/>
          </a:xfrm>
          <a:prstGeom prst="ellipse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711903" y="26791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× N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320040" y="3063240"/>
            <a:ext cx="115214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" y="3063240"/>
            <a:ext cx="73152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84632" y="3063240"/>
            <a:ext cx="11265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持续校验层(自动) </a:t>
            </a: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契约一致性 / fitness function / 安全合规 / 任意 push 触发 → Agent 自愈 → 再校验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20040" y="3410712"/>
            <a:ext cx="11521440" cy="896112"/>
          </a:xfrm>
          <a:prstGeom prst="rect">
            <a:avLst/>
          </a:prstGeom>
          <a:solidFill>
            <a:srgbClr val="EFEF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20040" y="3410712"/>
            <a:ext cx="73152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84632" y="342900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能力使用带(人在场,密度=强度)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9400032" y="343814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图例: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9765792" y="3456432"/>
            <a:ext cx="164592" cy="109728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966960" y="343814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低(贯穿/冷备)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0661904" y="3456432"/>
            <a:ext cx="164592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863072" y="3438144"/>
            <a:ext cx="1097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11045952" y="3456432"/>
            <a:ext cx="16459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1247120" y="34381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高(集中爆发)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57200" y="361188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撰写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691640" y="3694176"/>
            <a:ext cx="101498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691640" y="3621024"/>
            <a:ext cx="1319479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011119" y="3621024"/>
            <a:ext cx="1319479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333988" y="3621024"/>
            <a:ext cx="507492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57200" y="381304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价值/风险判断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1691640" y="3895344"/>
            <a:ext cx="101498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691640" y="3822192"/>
            <a:ext cx="1319479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390534" y="3822192"/>
            <a:ext cx="811987" cy="14630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608515" y="3822192"/>
            <a:ext cx="811987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826496" y="3822192"/>
            <a:ext cx="1014984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57200" y="40142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跨域抽象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691640" y="4096512"/>
            <a:ext cx="101498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011119" y="4023360"/>
            <a:ext cx="1319479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330598" y="4023360"/>
            <a:ext cx="5683910" cy="14630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7200" y="4215384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编排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1691640" y="4297680"/>
            <a:ext cx="101498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330598" y="4224528"/>
            <a:ext cx="4059936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90534" y="4224528"/>
            <a:ext cx="1623974" cy="14630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85800" y="4425696"/>
            <a:ext cx="10789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46" name="Text 144"/>
          <p:cNvSpPr/>
          <p:nvPr/>
        </p:nvSpPr>
        <p:spPr>
          <a:xfrm>
            <a:off x="502920" y="433425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◄</a:t>
            </a:r>
            <a:endParaRPr lang="en-US" sz="1400" dirty="0"/>
          </a:p>
        </p:txBody>
      </p:sp>
      <p:sp>
        <p:nvSpPr>
          <p:cNvPr id="147" name="Text 145"/>
          <p:cNvSpPr/>
          <p:nvPr/>
        </p:nvSpPr>
        <p:spPr>
          <a:xfrm>
            <a:off x="11292840" y="433425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T+∞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868680" y="44439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闭环回流  ·  业务指标 → 归因 Agent → 失效假设识别 → 形成新意图 → 回到 T+0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274320" y="4736592"/>
            <a:ext cx="28209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4320" y="4736592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11480" y="4782312"/>
            <a:ext cx="26380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并行</a:t>
            </a:r>
            <a:endParaRPr lang="en-US" sz="1200" dirty="0"/>
          </a:p>
        </p:txBody>
      </p:sp>
      <p:sp>
        <p:nvSpPr>
          <p:cNvPr id="152" name="Text 150"/>
          <p:cNvSpPr/>
          <p:nvPr/>
        </p:nvSpPr>
        <p:spPr>
          <a:xfrm>
            <a:off x="411480" y="5065776"/>
            <a:ext cx="26380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多轨同时推进,不是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「全员同时干所有事」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互不依赖中间状态,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在收敛点对齐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3204972" y="4736592"/>
            <a:ext cx="28209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204972" y="4736592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342132" y="4782312"/>
            <a:ext cx="26380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收敛</a:t>
            </a:r>
            <a:endParaRPr lang="en-US" sz="1200" dirty="0"/>
          </a:p>
        </p:txBody>
      </p:sp>
      <p:sp>
        <p:nvSpPr>
          <p:cNvPr id="156" name="Text 154"/>
          <p:cNvSpPr/>
          <p:nvPr/>
        </p:nvSpPr>
        <p:spPr>
          <a:xfrm>
            <a:off x="3342132" y="5065776"/>
            <a:ext cx="26380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契约冻结时刻,不是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「开会同步」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个收敛点 ↔ 4 个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人介入决策点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6135624" y="4736592"/>
            <a:ext cx="28209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35624" y="4736592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272784" y="4782312"/>
            <a:ext cx="26380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持续校验</a:t>
            </a:r>
            <a:endParaRPr lang="en-US" sz="1200" dirty="0"/>
          </a:p>
        </p:txBody>
      </p:sp>
      <p:sp>
        <p:nvSpPr>
          <p:cNvPr id="160" name="Text 158"/>
          <p:cNvSpPr/>
          <p:nvPr/>
        </p:nvSpPr>
        <p:spPr>
          <a:xfrm>
            <a:off x="6272784" y="5065776"/>
            <a:ext cx="26380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任意 push 触发,不是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「评审会」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校验内容声明在 Spec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里(非 SOP 文档)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9066276" y="4736592"/>
            <a:ext cx="28209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066276" y="4736592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203436" y="4782312"/>
            <a:ext cx="26380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闭环</a:t>
            </a:r>
            <a:endParaRPr lang="en-US" sz="1200" dirty="0"/>
          </a:p>
        </p:txBody>
      </p:sp>
      <p:sp>
        <p:nvSpPr>
          <p:cNvPr id="164" name="Text 162"/>
          <p:cNvSpPr/>
          <p:nvPr/>
        </p:nvSpPr>
        <p:spPr>
          <a:xfrm>
            <a:off x="9203436" y="5065776"/>
            <a:ext cx="26380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≠ 终点,是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反馈环上的事件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 → 归因 → 新 Spec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回到 T+0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274320" y="5815584"/>
            <a:ext cx="11612880" cy="93268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57200" y="5815584"/>
            <a:ext cx="112471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形态对比  </a:t>
            </a: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当前:流水线(一维时序,瓶颈=最慢段,阶段间靠文档交接,上线=终点)   →   </a:t>
            </a:r>
            <a:r>
              <a:rPr lang="en-US" sz="1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终态:网格 + 校验场 + 反馈环</a:t>
            </a: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(瓶颈=收敛点对齐,上线=环上一节点)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WPS 演示</Application>
  <PresentationFormat>On-screen Show (16:9)</PresentationFormat>
  <Paragraphs>254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 Feature 的上线之旅</dc:title>
  <dc:creator>Skeleton</dc:creator>
  <dc:subject>PptxGenJS Presentation</dc:subject>
  <cp:lastModifiedBy>赵慧娟</cp:lastModifiedBy>
  <cp:revision>5</cp:revision>
  <dcterms:created xsi:type="dcterms:W3CDTF">2026-04-28T11:46:00Z</dcterms:created>
  <dcterms:modified xsi:type="dcterms:W3CDTF">2026-04-28T11:52:44Z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2DEEC37313CF4129AE1B94DD62D46328_12</vt:lpwstr>
  </property>
  <property fmtid="{D5CDD505-2E9C-101B-9397-08002B2CF9AE}" pid="3" name="KSOProductBuildVer">
    <vt:lpwstr>2052-12.1.0.25865</vt:lpwstr>
  </property>
</Properties>
</file>